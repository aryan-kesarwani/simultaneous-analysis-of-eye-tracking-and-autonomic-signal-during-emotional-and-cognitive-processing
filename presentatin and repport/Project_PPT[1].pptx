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702" r:id="rId2"/>
    <p:sldMasterId id="2147483686" r:id="rId3"/>
  </p:sldMasterIdLst>
  <p:notesMasterIdLst>
    <p:notesMasterId r:id="rId25"/>
  </p:notesMasterIdLst>
  <p:handoutMasterIdLst>
    <p:handoutMasterId r:id="rId26"/>
  </p:handoutMasterIdLst>
  <p:sldIdLst>
    <p:sldId id="277" r:id="rId4"/>
    <p:sldId id="399" r:id="rId5"/>
    <p:sldId id="400" r:id="rId6"/>
    <p:sldId id="411" r:id="rId7"/>
    <p:sldId id="406" r:id="rId8"/>
    <p:sldId id="402" r:id="rId9"/>
    <p:sldId id="403" r:id="rId10"/>
    <p:sldId id="412" r:id="rId11"/>
    <p:sldId id="404" r:id="rId12"/>
    <p:sldId id="416" r:id="rId13"/>
    <p:sldId id="417" r:id="rId14"/>
    <p:sldId id="418" r:id="rId15"/>
    <p:sldId id="419" r:id="rId16"/>
    <p:sldId id="415" r:id="rId17"/>
    <p:sldId id="413" r:id="rId18"/>
    <p:sldId id="408" r:id="rId19"/>
    <p:sldId id="405" r:id="rId20"/>
    <p:sldId id="410" r:id="rId21"/>
    <p:sldId id="409" r:id="rId22"/>
    <p:sldId id="414" r:id="rId23"/>
    <p:sldId id="40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74" autoAdjust="0"/>
    <p:restoredTop sz="94660" autoAdjust="0"/>
  </p:normalViewPr>
  <p:slideViewPr>
    <p:cSldViewPr snapToGrid="0">
      <p:cViewPr varScale="1">
        <p:scale>
          <a:sx n="117" d="100"/>
          <a:sy n="117" d="100"/>
        </p:scale>
        <p:origin x="636" y="10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7" d="100"/>
          <a:sy n="67" d="100"/>
        </p:scale>
        <p:origin x="-3168"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11/18/2025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053794"/>
            <a:ext cx="12196420" cy="43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760418" y="1724206"/>
            <a:ext cx="6829425" cy="2797237"/>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000" i="1" dirty="0">
                <a:solidFill>
                  <a:srgbClr val="000000"/>
                </a:solidFill>
                <a:latin typeface="Times New Roman" panose="02020603050405020304" pitchFamily="18" charset="0"/>
                <a:cs typeface="Times New Roman" panose="02020603050405020304" pitchFamily="18" charset="0"/>
              </a:rPr>
              <a:t>Submitted in the partial fulfillment for the award of the degree of</a:t>
            </a:r>
          </a:p>
          <a:p>
            <a:pPr algn="ctr">
              <a:lnSpc>
                <a:spcPct val="150000"/>
              </a:lnSpc>
            </a:pPr>
            <a:r>
              <a:rPr lang="en-US" sz="2000" b="1" dirty="0">
                <a:solidFill>
                  <a:srgbClr val="000000"/>
                </a:solidFill>
                <a:latin typeface="Times New Roman" panose="02020603050405020304" pitchFamily="18" charset="0"/>
                <a:cs typeface="Times New Roman" panose="02020603050405020304" pitchFamily="18" charset="0"/>
              </a:rPr>
              <a:t>BACHELOR OF ENGINEERING </a:t>
            </a:r>
            <a:endParaRPr lang="en-US" sz="2000" dirty="0">
              <a:solidFill>
                <a:srgbClr val="000000"/>
              </a:solidFill>
              <a:latin typeface="Times New Roman" panose="02020603050405020304" pitchFamily="18" charset="0"/>
              <a:cs typeface="Times New Roman" panose="02020603050405020304" pitchFamily="18" charset="0"/>
            </a:endParaRPr>
          </a:p>
          <a:p>
            <a:pPr algn="ctr">
              <a:lnSpc>
                <a:spcPct val="150000"/>
              </a:lnSpc>
            </a:pPr>
            <a:r>
              <a:rPr lang="en-US" sz="2000" i="1" dirty="0">
                <a:solidFill>
                  <a:srgbClr val="000000"/>
                </a:solidFill>
                <a:latin typeface="Times New Roman" panose="02020603050405020304" pitchFamily="18" charset="0"/>
                <a:cs typeface="Times New Roman" panose="02020603050405020304" pitchFamily="18" charset="0"/>
              </a:rPr>
              <a:t> IN</a:t>
            </a:r>
          </a:p>
          <a:p>
            <a:pPr algn="ctr">
              <a:lnSpc>
                <a:spcPct val="150000"/>
              </a:lnSpc>
            </a:pPr>
            <a:r>
              <a:rPr lang="en-US" sz="2000" b="1" dirty="0">
                <a:solidFill>
                  <a:srgbClr val="000000"/>
                </a:solidFill>
                <a:latin typeface="Times New Roman" panose="02020603050405020304" pitchFamily="18" charset="0"/>
                <a:cs typeface="Times New Roman" panose="02020603050405020304" pitchFamily="18" charset="0"/>
              </a:rPr>
              <a:t>Artificial Intelligence and Machine Learning </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Times New Roman" panose="02020603050405020304" pitchFamily="18" charset="0"/>
              </a:rPr>
              <a:t>DISCOVER . </a:t>
            </a:r>
            <a:r>
              <a:rPr lang="en-US" sz="2000" b="1" dirty="0">
                <a:solidFill>
                  <a:srgbClr val="C00000"/>
                </a:solidFill>
                <a:latin typeface="Casper" panose="02000506000000020004" pitchFamily="2" charset="0"/>
                <a:ea typeface="Karla" pitchFamily="2" charset="0"/>
                <a:cs typeface="Times New Roman" panose="02020603050405020304" pitchFamily="18" charset="0"/>
              </a:rPr>
              <a:t>LEARN</a:t>
            </a:r>
            <a:r>
              <a:rPr lang="en-US" sz="2000" b="1" dirty="0">
                <a:solidFill>
                  <a:prstClr val="black">
                    <a:lumMod val="65000"/>
                    <a:lumOff val="35000"/>
                  </a:prstClr>
                </a:solidFill>
                <a:latin typeface="Casper" panose="02000506000000020004" pitchFamily="2" charset="0"/>
                <a:ea typeface="Karla" pitchFamily="2" charset="0"/>
                <a:cs typeface="Times New Roman" panose="02020603050405020304" pitchFamily="18"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43345" y="6014156"/>
            <a:ext cx="5882609"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srgbClr val="FF0000"/>
                </a:solidFill>
                <a:latin typeface="Times New Roman" pitchFamily="18" charset="0"/>
                <a:cs typeface="Times New Roman" pitchFamily="18" charset="0"/>
              </a:rPr>
              <a:t>Department of AIT-CSE</a:t>
            </a:r>
            <a:endParaRPr lang="en-US" sz="1600" dirty="0">
              <a:solidFill>
                <a:srgbClr val="FF0000"/>
              </a:solidFill>
              <a:latin typeface="Times New Roman" pitchFamily="18" charset="0"/>
              <a:cs typeface="Times New Roman" pitchFamily="18" charset="0"/>
            </a:endParaRPr>
          </a:p>
        </p:txBody>
      </p:sp>
      <p:sp>
        <p:nvSpPr>
          <p:cNvPr id="26" name="TextBox 25"/>
          <p:cNvSpPr txBox="1">
            <a:spLocks noChangeArrowheads="1"/>
          </p:cNvSpPr>
          <p:nvPr/>
        </p:nvSpPr>
        <p:spPr bwMode="auto">
          <a:xfrm>
            <a:off x="770965" y="751280"/>
            <a:ext cx="11039002"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600" b="1" dirty="0">
                <a:latin typeface="Times New Roman" panose="02020603050405020304" pitchFamily="18" charset="0"/>
                <a:cs typeface="Times New Roman" panose="02020603050405020304" pitchFamily="18" charset="0"/>
              </a:rPr>
              <a:t>Simultaneous Analysis of Eye Tracking and Autonomic Signals during Emotional and Cognitive Processing</a:t>
            </a:r>
            <a:endParaRPr lang="en-US" sz="36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
        <p:nvSpPr>
          <p:cNvPr id="5" name="TextBox 4"/>
          <p:cNvSpPr txBox="1"/>
          <p:nvPr/>
        </p:nvSpPr>
        <p:spPr>
          <a:xfrm>
            <a:off x="1686940" y="4454820"/>
            <a:ext cx="3560590" cy="156966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Submitted by: </a:t>
            </a:r>
          </a:p>
          <a:p>
            <a:r>
              <a:rPr lang="en-IN" sz="2000" dirty="0">
                <a:latin typeface="Times New Roman" panose="02020603050405020304" pitchFamily="18" charset="0"/>
                <a:cs typeface="Times New Roman" panose="02020603050405020304" pitchFamily="18" charset="0"/>
              </a:rPr>
              <a:t>Arshdeep Yadav (22BAI70007)</a:t>
            </a:r>
          </a:p>
          <a:p>
            <a:r>
              <a:rPr lang="en-IN" sz="2000" dirty="0">
                <a:latin typeface="Times New Roman" panose="02020603050405020304" pitchFamily="18" charset="0"/>
                <a:cs typeface="Times New Roman" panose="02020603050405020304" pitchFamily="18" charset="0"/>
              </a:rPr>
              <a:t>Aryan </a:t>
            </a:r>
            <a:r>
              <a:rPr lang="en-IN" sz="2000" dirty="0" err="1">
                <a:latin typeface="Times New Roman" panose="02020603050405020304" pitchFamily="18" charset="0"/>
                <a:cs typeface="Times New Roman" panose="02020603050405020304" pitchFamily="18" charset="0"/>
              </a:rPr>
              <a:t>Kesarwani</a:t>
            </a:r>
            <a:r>
              <a:rPr lang="en-IN" sz="2000" dirty="0">
                <a:latin typeface="Times New Roman" panose="02020603050405020304" pitchFamily="18" charset="0"/>
                <a:cs typeface="Times New Roman" panose="02020603050405020304" pitchFamily="18" charset="0"/>
              </a:rPr>
              <a:t> (22BAI70016)</a:t>
            </a:r>
          </a:p>
          <a:p>
            <a:r>
              <a:rPr lang="en-IN" dirty="0">
                <a:latin typeface="Times New Roman" panose="02020603050405020304" pitchFamily="18" charset="0"/>
                <a:cs typeface="Times New Roman" panose="02020603050405020304" pitchFamily="18" charset="0"/>
              </a:rPr>
              <a:t>Mayank Chouhan (22BAI70050)</a:t>
            </a:r>
          </a:p>
          <a:p>
            <a:r>
              <a:rPr lang="en-IN" dirty="0">
                <a:latin typeface="Times New Roman" panose="02020603050405020304" pitchFamily="18" charset="0"/>
                <a:cs typeface="Times New Roman" panose="02020603050405020304" pitchFamily="18" charset="0"/>
              </a:rPr>
              <a:t>Divya (22BAI70062)</a:t>
            </a:r>
          </a:p>
        </p:txBody>
      </p:sp>
      <p:sp>
        <p:nvSpPr>
          <p:cNvPr id="6" name="TextBox 5"/>
          <p:cNvSpPr txBox="1"/>
          <p:nvPr/>
        </p:nvSpPr>
        <p:spPr>
          <a:xfrm>
            <a:off x="7664978" y="4393264"/>
            <a:ext cx="3070264" cy="163121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Under the Supervision of: </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Er. </a:t>
            </a:r>
            <a:r>
              <a:rPr lang="en-US" sz="2000" dirty="0" err="1">
                <a:latin typeface="Times New Roman" panose="02020603050405020304" pitchFamily="18" charset="0"/>
                <a:cs typeface="Times New Roman" panose="02020603050405020304" pitchFamily="18" charset="0"/>
              </a:rPr>
              <a:t>Aaskaran</a:t>
            </a:r>
            <a:r>
              <a:rPr lang="en-US" sz="2000" dirty="0">
                <a:latin typeface="Times New Roman" panose="02020603050405020304" pitchFamily="18" charset="0"/>
                <a:cs typeface="Times New Roman" panose="02020603050405020304" pitchFamily="18" charset="0"/>
              </a:rPr>
              <a:t> Bishnoi </a:t>
            </a:r>
          </a:p>
          <a:p>
            <a:r>
              <a:rPr lang="en-US" sz="2000" dirty="0">
                <a:latin typeface="Times New Roman" panose="02020603050405020304" pitchFamily="18" charset="0"/>
                <a:cs typeface="Times New Roman" panose="02020603050405020304" pitchFamily="18" charset="0"/>
              </a:rPr>
              <a:t>E15060</a:t>
            </a:r>
          </a:p>
          <a:p>
            <a:r>
              <a:rPr lang="en-US" sz="2000" dirty="0">
                <a:latin typeface="Times New Roman" panose="02020603050405020304" pitchFamily="18" charset="0"/>
                <a:cs typeface="Times New Roman" panose="02020603050405020304" pitchFamily="18" charset="0"/>
              </a:rPr>
              <a:t>Assistant Professor</a:t>
            </a:r>
          </a:p>
          <a:p>
            <a:r>
              <a:rPr lang="en-US" sz="2000" dirty="0">
                <a:latin typeface="Times New Roman" panose="02020603050405020304" pitchFamily="18" charset="0"/>
                <a:cs typeface="Times New Roman" panose="02020603050405020304" pitchFamily="18" charset="0"/>
              </a:rPr>
              <a:t>AIT-CSE AIML</a:t>
            </a: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676" y="365126"/>
            <a:ext cx="10515600" cy="976206"/>
          </a:xfrm>
        </p:spPr>
        <p:txBody>
          <a:bodyPr/>
          <a:lstStyle/>
          <a:p>
            <a:r>
              <a:rPr lang="en-US" b="1" dirty="0">
                <a:latin typeface="Times New Roman"/>
                <a:cs typeface="Times New Roman"/>
              </a:rPr>
              <a:t>Outline</a:t>
            </a:r>
          </a:p>
        </p:txBody>
      </p:sp>
      <p:sp>
        <p:nvSpPr>
          <p:cNvPr id="3" name="Content Placeholder 2"/>
          <p:cNvSpPr>
            <a:spLocks noGrp="1"/>
          </p:cNvSpPr>
          <p:nvPr>
            <p:ph idx="1"/>
          </p:nvPr>
        </p:nvSpPr>
        <p:spPr>
          <a:xfrm>
            <a:off x="838200" y="1588220"/>
            <a:ext cx="10515600" cy="4952253"/>
          </a:xfrm>
        </p:spPr>
        <p:txBody>
          <a:bodyPr>
            <a:normAutofit/>
          </a:bodyPr>
          <a:lstStyle/>
          <a:p>
            <a:r>
              <a:rPr lang="en-IN" dirty="0">
                <a:latin typeface="Times New Roman" panose="02020603050405020304" pitchFamily="18" charset="0"/>
                <a:cs typeface="Times New Roman" panose="02020603050405020304" pitchFamily="18" charset="0"/>
              </a:rPr>
              <a:t>Introduction to Project</a:t>
            </a:r>
          </a:p>
          <a:p>
            <a:r>
              <a:rPr lang="en-US" dirty="0">
                <a:latin typeface="Times New Roman" panose="02020603050405020304" pitchFamily="18" charset="0"/>
                <a:cs typeface="Times New Roman" panose="02020603050405020304" pitchFamily="18" charset="0"/>
              </a:rPr>
              <a:t>Problem Formulation</a:t>
            </a:r>
          </a:p>
          <a:p>
            <a:r>
              <a:rPr lang="en-US" dirty="0">
                <a:latin typeface="Times New Roman" panose="02020603050405020304" pitchFamily="18" charset="0"/>
                <a:cs typeface="Times New Roman" panose="02020603050405020304" pitchFamily="18" charset="0"/>
              </a:rPr>
              <a:t>Objectives of the work </a:t>
            </a:r>
          </a:p>
          <a:p>
            <a:r>
              <a:rPr lang="en-IN" dirty="0">
                <a:latin typeface="Times New Roman" panose="02020603050405020304" pitchFamily="18" charset="0"/>
                <a:cs typeface="Times New Roman" panose="02020603050405020304" pitchFamily="18" charset="0"/>
              </a:rPr>
              <a:t>Methodology Used</a:t>
            </a:r>
          </a:p>
          <a:p>
            <a:r>
              <a:rPr lang="en-IN" dirty="0">
                <a:latin typeface="Times New Roman" panose="02020603050405020304" pitchFamily="18" charset="0"/>
                <a:cs typeface="Times New Roman" panose="02020603050405020304" pitchFamily="18" charset="0"/>
              </a:rPr>
              <a:t>Results and Outputs</a:t>
            </a:r>
          </a:p>
          <a:p>
            <a:r>
              <a:rPr lang="en-US" dirty="0">
                <a:latin typeface="Times New Roman" panose="02020603050405020304" pitchFamily="18" charset="0"/>
                <a:cs typeface="Times New Roman" panose="02020603050405020304" pitchFamily="18" charset="0"/>
              </a:rPr>
              <a:t>Conclusion </a:t>
            </a:r>
          </a:p>
          <a:p>
            <a:r>
              <a:rPr lang="en-IN" dirty="0">
                <a:latin typeface="Times New Roman" panose="02020603050405020304" pitchFamily="18" charset="0"/>
                <a:cs typeface="Times New Roman" panose="02020603050405020304" pitchFamily="18" charset="0"/>
              </a:rPr>
              <a:t>Future Scope</a:t>
            </a:r>
          </a:p>
          <a:p>
            <a:r>
              <a:rPr lang="en-IN"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26059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 to Project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351338"/>
          </a:xfrm>
        </p:spPr>
        <p:txBody>
          <a:bodyPr>
            <a:normAutofit/>
          </a:bodyPr>
          <a:lstStyle/>
          <a:p>
            <a:pPr algn="just"/>
            <a:r>
              <a:rPr lang="en-US" sz="3200" dirty="0">
                <a:latin typeface="Times New Roman" panose="02020603050405020304" pitchFamily="18" charset="0"/>
                <a:cs typeface="Times New Roman" panose="02020603050405020304" pitchFamily="18" charset="0"/>
              </a:rPr>
              <a:t>The research investigates the relationship between ocular dynamics (eye-tracking signals) and autonomic indices during emotional and cognitive processing in older adults, focusing on distinguishing late-life depression (LLD) from healthy aging.​</a:t>
            </a:r>
          </a:p>
          <a:p>
            <a:pPr algn="just"/>
            <a:r>
              <a:rPr lang="en-US" sz="3200" dirty="0">
                <a:latin typeface="Times New Roman" panose="02020603050405020304" pitchFamily="18" charset="0"/>
                <a:cs typeface="Times New Roman" panose="02020603050405020304" pitchFamily="18" charset="0"/>
              </a:rPr>
              <a:t>It emphasizes the importance of objective, non-invasive real-time methods like eye tracking and autonomic signal measurement for understanding disease mechanisms and improving screening tools for elderly populations.​</a:t>
            </a:r>
          </a:p>
          <a:p>
            <a:pPr marL="0" indent="0" algn="just">
              <a:buNone/>
            </a:pPr>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340101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E6F72-E62E-7B9B-FD14-7CF7A359BDAC}"/>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The study expands on previous work by integrating video-based eye metrics with autonomic signals (pupillometry, heart rate variability (HRV), electrodermal activity (EDA)) to develop scalable biomarkers for clinical assessment</a:t>
            </a:r>
            <a:endParaRPr lang="en-IN" sz="3200" dirty="0"/>
          </a:p>
        </p:txBody>
      </p:sp>
      <p:sp>
        <p:nvSpPr>
          <p:cNvPr id="4" name="Slide Number Placeholder 3">
            <a:extLst>
              <a:ext uri="{FF2B5EF4-FFF2-40B4-BE49-F238E27FC236}">
                <a16:creationId xmlns:a16="http://schemas.microsoft.com/office/drawing/2014/main" id="{B2FC4FB1-2315-FFEA-9674-30CFA3859A58}"/>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3892064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0241"/>
            <a:ext cx="10515600" cy="1325563"/>
          </a:xfrm>
        </p:spPr>
        <p:txBody>
          <a:bodyPr>
            <a:normAutofit/>
          </a:bodyPr>
          <a:lstStyle/>
          <a:p>
            <a:r>
              <a:rPr lang="en-IN" b="1" dirty="0">
                <a:latin typeface="Times New Roman" panose="02020603050405020304" pitchFamily="18" charset="0"/>
                <a:cs typeface="Times New Roman" panose="02020603050405020304" pitchFamily="18" charset="0"/>
              </a:rPr>
              <a:t>Problem Formulation</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2B6C6A13-EF07-6B18-2010-F9F979953D02}"/>
              </a:ext>
            </a:extLst>
          </p:cNvPr>
          <p:cNvSpPr txBox="1"/>
          <p:nvPr/>
        </p:nvSpPr>
        <p:spPr>
          <a:xfrm>
            <a:off x="838200" y="1545804"/>
            <a:ext cx="10515600" cy="501675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There is a significant gap in research regarding the coordinated analysis of </a:t>
            </a:r>
            <a:r>
              <a:rPr lang="en-US" sz="3200" dirty="0" err="1">
                <a:latin typeface="Times New Roman" panose="02020603050405020304" pitchFamily="18" charset="0"/>
                <a:cs typeface="Times New Roman" panose="02020603050405020304" pitchFamily="18" charset="0"/>
              </a:rPr>
              <a:t>microsaccadic</a:t>
            </a:r>
            <a:r>
              <a:rPr lang="en-US" sz="3200" dirty="0">
                <a:latin typeface="Times New Roman" panose="02020603050405020304" pitchFamily="18" charset="0"/>
                <a:cs typeface="Times New Roman" panose="02020603050405020304" pitchFamily="18" charset="0"/>
              </a:rPr>
              <a:t> behavior and autonomic responses in late-life depression. Most prior studies have investigated these markers separately, restricting mechanistic understanding in diverse populations.​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superior colliculus and locus coeruleus are believed to jointly control both fine-scale </a:t>
            </a:r>
            <a:r>
              <a:rPr lang="en-US" sz="3200" dirty="0" err="1">
                <a:latin typeface="Times New Roman" panose="02020603050405020304" pitchFamily="18" charset="0"/>
                <a:cs typeface="Times New Roman" panose="02020603050405020304" pitchFamily="18" charset="0"/>
              </a:rPr>
              <a:t>microsaccades</a:t>
            </a:r>
            <a:r>
              <a:rPr lang="en-US" sz="3200" dirty="0">
                <a:latin typeface="Times New Roman" panose="02020603050405020304" pitchFamily="18" charset="0"/>
                <a:cs typeface="Times New Roman" panose="02020603050405020304" pitchFamily="18" charset="0"/>
              </a:rPr>
              <a:t> and sympathetic pupil dynamics in emotional conflict, but comprehensive trial-level multimodal analysis is lacking.</a:t>
            </a:r>
          </a:p>
        </p:txBody>
      </p:sp>
    </p:spTree>
    <p:extLst>
      <p:ext uri="{BB962C8B-B14F-4D97-AF65-F5344CB8AC3E}">
        <p14:creationId xmlns:p14="http://schemas.microsoft.com/office/powerpoint/2010/main" val="195242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7"/>
            <a:ext cx="10515600" cy="4802187"/>
          </a:xfrm>
        </p:spPr>
        <p:txBody>
          <a:bodyPr>
            <a:noAutofit/>
          </a:bodyPr>
          <a:lstStyle/>
          <a:p>
            <a:pPr algn="just"/>
            <a:r>
              <a:rPr lang="en-US" sz="3200" dirty="0">
                <a:latin typeface="Times New Roman" panose="02020603050405020304" pitchFamily="18" charset="0"/>
                <a:cs typeface="Times New Roman" panose="02020603050405020304" pitchFamily="18" charset="0"/>
              </a:rPr>
              <a:t>Evaluate common and distinct features of conflict-related arousal and control via simultaneous analysis of eye-tracking and autonomic signals in LLD versus healthy controls.​</a:t>
            </a:r>
          </a:p>
          <a:p>
            <a:pPr algn="just"/>
            <a:r>
              <a:rPr lang="en-US" sz="3200" dirty="0">
                <a:latin typeface="Times New Roman" panose="02020603050405020304" pitchFamily="18" charset="0"/>
                <a:cs typeface="Times New Roman" panose="02020603050405020304" pitchFamily="18" charset="0"/>
              </a:rPr>
              <a:t>Determine whether integrated ocular-autonomic traits can reliably differentiate late-life depression from healthy aging and reveal neural mechanisms underlying emotional conflict in older adults.​</a:t>
            </a:r>
          </a:p>
          <a:p>
            <a:pPr algn="just"/>
            <a:r>
              <a:rPr lang="en-US" sz="3200" dirty="0">
                <a:latin typeface="Times New Roman" panose="02020603050405020304" pitchFamily="18" charset="0"/>
                <a:cs typeface="Times New Roman" panose="02020603050405020304" pitchFamily="18" charset="0"/>
              </a:rPr>
              <a:t>Develop clear, scalable biomarkers for emotion recognition, cognitive workload assessment, and geriatric mental health monitoring.</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47496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Methodology </a:t>
            </a:r>
          </a:p>
        </p:txBody>
      </p:sp>
      <p:sp>
        <p:nvSpPr>
          <p:cNvPr id="3" name="Content Placeholder 2"/>
          <p:cNvSpPr>
            <a:spLocks noGrp="1"/>
          </p:cNvSpPr>
          <p:nvPr>
            <p:ph idx="1"/>
          </p:nvPr>
        </p:nvSpPr>
        <p:spPr/>
        <p:txBody>
          <a:bodyPr>
            <a:noAutofit/>
          </a:bodyPr>
          <a:lstStyle/>
          <a:p>
            <a:pPr algn="just"/>
            <a:r>
              <a:rPr lang="en-US" sz="3200" dirty="0">
                <a:latin typeface="Times New Roman" panose="02020603050405020304" pitchFamily="18" charset="0"/>
                <a:cs typeface="Times New Roman" panose="02020603050405020304" pitchFamily="18" charset="0"/>
              </a:rPr>
              <a:t>Participants: 70 older adults (35 LLD, 35 healthy controls), matched for age and cognitive background, underwent standardized diagnostic screening and vision checks.​</a:t>
            </a:r>
          </a:p>
          <a:p>
            <a:pPr algn="just"/>
            <a:r>
              <a:rPr lang="en-US" sz="3200" dirty="0">
                <a:latin typeface="Times New Roman" panose="02020603050405020304" pitchFamily="18" charset="0"/>
                <a:cs typeface="Times New Roman" panose="02020603050405020304" pitchFamily="18" charset="0"/>
              </a:rPr>
              <a:t>Experimental Setup: Participants performed an emotional face-word Stroop task involving congruent and incongruent facial expression-word pairs, while high-speed binocular eye tracking (EyeLink-1000 Plus, 500 Hz) collected gaze position, pupil size, and blinks under controlled lighting and fixation protocols.​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2285240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EAB344-B1ED-652C-D1BE-EE139B54F425}"/>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Data Preprocessing: Artifact removal, resampling, calibration of pupil size, and rigorous outlier exclusion ensured high data quality; trials were temporally aligned and features extracted for microsaccade rate, amplitude, velocity, angle, and autonomic-linked dynamics.</a:t>
            </a:r>
          </a:p>
          <a:p>
            <a:pPr algn="just"/>
            <a:endParaRPr lang="en-IN" sz="3200" dirty="0"/>
          </a:p>
        </p:txBody>
      </p:sp>
      <p:sp>
        <p:nvSpPr>
          <p:cNvPr id="4" name="Slide Number Placeholder 3">
            <a:extLst>
              <a:ext uri="{FF2B5EF4-FFF2-40B4-BE49-F238E27FC236}">
                <a16:creationId xmlns:a16="http://schemas.microsoft.com/office/drawing/2014/main" id="{370F1303-EF01-95FB-236F-B13AE333F236}"/>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3165562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4414"/>
          </a:xfrm>
        </p:spPr>
        <p:txBody>
          <a:bodyPr/>
          <a:lstStyle/>
          <a:p>
            <a:r>
              <a:rPr lang="en-IN" b="1" dirty="0">
                <a:latin typeface="Times New Roman" panose="02020603050405020304" pitchFamily="18" charset="0"/>
                <a:cs typeface="Times New Roman" panose="02020603050405020304" pitchFamily="18" charset="0"/>
              </a:rPr>
              <a:t>Results and Outputs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1" y="4189383"/>
            <a:ext cx="10515599" cy="2862169"/>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Healthy adults showed strong, clear pupil constriction and quick recovery, whereas late-life depression patients showed weak, near-baseline constriction with slow re-dilation. This bilateral reduction in pupil modulation reflects diminished parasympathetic activation and autonomic flexibility, independent of task performance.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8" name="Picture 7">
            <a:extLst>
              <a:ext uri="{FF2B5EF4-FFF2-40B4-BE49-F238E27FC236}">
                <a16:creationId xmlns:a16="http://schemas.microsoft.com/office/drawing/2014/main" id="{DA2426A3-3DE8-D646-2828-A70117054980}"/>
              </a:ext>
            </a:extLst>
          </p:cNvPr>
          <p:cNvPicPr>
            <a:picLocks noChangeAspect="1"/>
          </p:cNvPicPr>
          <p:nvPr/>
        </p:nvPicPr>
        <p:blipFill>
          <a:blip r:embed="rId2"/>
          <a:stretch>
            <a:fillRect/>
          </a:stretch>
        </p:blipFill>
        <p:spPr>
          <a:xfrm>
            <a:off x="963703" y="1865061"/>
            <a:ext cx="5015752" cy="2126637"/>
          </a:xfrm>
          <a:prstGeom prst="rect">
            <a:avLst/>
          </a:prstGeom>
        </p:spPr>
      </p:pic>
      <p:pic>
        <p:nvPicPr>
          <p:cNvPr id="10" name="Picture 9">
            <a:extLst>
              <a:ext uri="{FF2B5EF4-FFF2-40B4-BE49-F238E27FC236}">
                <a16:creationId xmlns:a16="http://schemas.microsoft.com/office/drawing/2014/main" id="{53F36DD6-D667-9ED7-0BEC-BA8E57FD2E98}"/>
              </a:ext>
            </a:extLst>
          </p:cNvPr>
          <p:cNvPicPr>
            <a:picLocks noChangeAspect="1"/>
          </p:cNvPicPr>
          <p:nvPr/>
        </p:nvPicPr>
        <p:blipFill>
          <a:blip r:embed="rId3"/>
          <a:srcRect b="9389"/>
          <a:stretch>
            <a:fillRect/>
          </a:stretch>
        </p:blipFill>
        <p:spPr>
          <a:xfrm>
            <a:off x="6199047" y="1876463"/>
            <a:ext cx="4894825" cy="2132012"/>
          </a:xfrm>
          <a:prstGeom prst="rect">
            <a:avLst/>
          </a:prstGeom>
        </p:spPr>
      </p:pic>
      <p:sp>
        <p:nvSpPr>
          <p:cNvPr id="12" name="TextBox 11">
            <a:extLst>
              <a:ext uri="{FF2B5EF4-FFF2-40B4-BE49-F238E27FC236}">
                <a16:creationId xmlns:a16="http://schemas.microsoft.com/office/drawing/2014/main" id="{A80132FF-9DE7-77A6-1FA1-ED6936EC87A1}"/>
              </a:ext>
            </a:extLst>
          </p:cNvPr>
          <p:cNvSpPr txBox="1"/>
          <p:nvPr/>
        </p:nvSpPr>
        <p:spPr>
          <a:xfrm>
            <a:off x="1273306" y="1179540"/>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Temporal Dynamics of Pupil Response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3662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76B68-D18F-12F5-6811-E1E42EF15B21}"/>
              </a:ext>
            </a:extLst>
          </p:cNvPr>
          <p:cNvSpPr>
            <a:spLocks noGrp="1"/>
          </p:cNvSpPr>
          <p:nvPr>
            <p:ph idx="1"/>
          </p:nvPr>
        </p:nvSpPr>
        <p:spPr>
          <a:xfrm>
            <a:off x="6096000" y="1134836"/>
            <a:ext cx="5257800" cy="5042127"/>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Saccadic velocity remained similar between healthy adults and individuals with late-life depression, with both groups showing comparable time-course patterns and peak velocity distributions. No significant differences or abnormalities were observed, indicating preserved neuromotor pathways for generating saccades in LLD. While other measures like pupil response and </a:t>
            </a:r>
            <a:r>
              <a:rPr lang="en-US" sz="2400" dirty="0" err="1">
                <a:latin typeface="Times New Roman" panose="02020603050405020304" pitchFamily="18" charset="0"/>
                <a:cs typeface="Times New Roman" panose="02020603050405020304" pitchFamily="18" charset="0"/>
              </a:rPr>
              <a:t>microsaccades</a:t>
            </a:r>
            <a:r>
              <a:rPr lang="en-US" sz="2400" dirty="0">
                <a:latin typeface="Times New Roman" panose="02020603050405020304" pitchFamily="18" charset="0"/>
                <a:cs typeface="Times New Roman" panose="02020603050405020304" pitchFamily="18" charset="0"/>
              </a:rPr>
              <a:t> showed group differences, the speed of intentional saccades remained unaffected, suggesting that oculomotor execution is intact in late-life depression.</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8C80E99-017D-9576-76A5-5EB458EE1885}"/>
              </a:ext>
            </a:extLst>
          </p:cNvPr>
          <p:cNvSpPr>
            <a:spLocks noGrp="1"/>
          </p:cNvSpPr>
          <p:nvPr>
            <p:ph type="sldNum" sz="quarter" idx="12"/>
          </p:nvPr>
        </p:nvSpPr>
        <p:spPr/>
        <p:txBody>
          <a:bodyPr/>
          <a:lstStyle/>
          <a:p>
            <a:fld id="{BDCDBBEF-AA6C-4BA6-85B2-A17D7F280E38}" type="slidenum">
              <a:rPr lang="en-US" smtClean="0"/>
              <a:pPr/>
              <a:t>10</a:t>
            </a:fld>
            <a:endParaRPr lang="en-US"/>
          </a:p>
        </p:txBody>
      </p:sp>
      <p:sp>
        <p:nvSpPr>
          <p:cNvPr id="2" name="TextBox 1">
            <a:extLst>
              <a:ext uri="{FF2B5EF4-FFF2-40B4-BE49-F238E27FC236}">
                <a16:creationId xmlns:a16="http://schemas.microsoft.com/office/drawing/2014/main" id="{FB69A1C1-7B6B-7907-9E03-64E6F68A2B7D}"/>
              </a:ext>
            </a:extLst>
          </p:cNvPr>
          <p:cNvSpPr txBox="1"/>
          <p:nvPr/>
        </p:nvSpPr>
        <p:spPr>
          <a:xfrm>
            <a:off x="1159006" y="642913"/>
            <a:ext cx="5821457"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Temporal Dynamics of Saccadic Velocity</a:t>
            </a:r>
            <a:endParaRPr lang="en-IN" sz="2400" b="1" dirty="0">
              <a:latin typeface="Times New Roman" panose="02020603050405020304" pitchFamily="18" charset="0"/>
              <a:cs typeface="Times New Roman" panose="02020603050405020304" pitchFamily="18" charset="0"/>
            </a:endParaRPr>
          </a:p>
        </p:txBody>
      </p:sp>
      <p:pic>
        <p:nvPicPr>
          <p:cNvPr id="5" name="image9.png">
            <a:extLst>
              <a:ext uri="{FF2B5EF4-FFF2-40B4-BE49-F238E27FC236}">
                <a16:creationId xmlns:a16="http://schemas.microsoft.com/office/drawing/2014/main" id="{56C5EF7F-1DAD-0135-7A1A-2B46871E23AE}"/>
              </a:ext>
            </a:extLst>
          </p:cNvPr>
          <p:cNvPicPr/>
          <p:nvPr/>
        </p:nvPicPr>
        <p:blipFill>
          <a:blip r:embed="rId2"/>
          <a:srcRect/>
          <a:stretch>
            <a:fillRect/>
          </a:stretch>
        </p:blipFill>
        <p:spPr>
          <a:xfrm>
            <a:off x="1475014" y="1200150"/>
            <a:ext cx="4142015" cy="2506436"/>
          </a:xfrm>
          <a:prstGeom prst="rect">
            <a:avLst/>
          </a:prstGeom>
          <a:ln/>
        </p:spPr>
      </p:pic>
      <p:pic>
        <p:nvPicPr>
          <p:cNvPr id="7" name="image4.png">
            <a:extLst>
              <a:ext uri="{FF2B5EF4-FFF2-40B4-BE49-F238E27FC236}">
                <a16:creationId xmlns:a16="http://schemas.microsoft.com/office/drawing/2014/main" id="{038FAE14-6EFA-EF94-BA13-8E45EFCF9978}"/>
              </a:ext>
            </a:extLst>
          </p:cNvPr>
          <p:cNvPicPr/>
          <p:nvPr/>
        </p:nvPicPr>
        <p:blipFill>
          <a:blip r:embed="rId3"/>
          <a:srcRect/>
          <a:stretch>
            <a:fillRect/>
          </a:stretch>
        </p:blipFill>
        <p:spPr>
          <a:xfrm>
            <a:off x="2168978" y="3802158"/>
            <a:ext cx="2590800" cy="2159907"/>
          </a:xfrm>
          <a:prstGeom prst="rect">
            <a:avLst/>
          </a:prstGeom>
          <a:ln/>
        </p:spPr>
      </p:pic>
    </p:spTree>
    <p:extLst>
      <p:ext uri="{BB962C8B-B14F-4D97-AF65-F5344CB8AC3E}">
        <p14:creationId xmlns:p14="http://schemas.microsoft.com/office/powerpoint/2010/main" val="37676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C983A8-7D1D-8CB7-768B-166EFA32E836}"/>
              </a:ext>
            </a:extLst>
          </p:cNvPr>
          <p:cNvSpPr>
            <a:spLocks noGrp="1"/>
          </p:cNvSpPr>
          <p:nvPr>
            <p:ph idx="1"/>
          </p:nvPr>
        </p:nvSpPr>
        <p:spPr>
          <a:xfrm>
            <a:off x="6368142" y="1104578"/>
            <a:ext cx="4985657" cy="5072384"/>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Saccadic amplitude remained stable and comparable between healthy adults and individuals with late-life depression, with no group-specific deviations across the entire time window. Boxplot distributions showed similar medians and variability, indicating preserved spatial control of saccadic movements. These results suggest that LLD does not affect the basic motor mechanisms governing saccade amplitude, with differences instead appearing in finer attentional and autonomic processes rather than core oculomotor execution.</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7EB5CD1-35D7-5924-8A5F-D3B5FBC2851C}"/>
              </a:ext>
            </a:extLst>
          </p:cNvPr>
          <p:cNvSpPr>
            <a:spLocks noGrp="1"/>
          </p:cNvSpPr>
          <p:nvPr>
            <p:ph type="sldNum" sz="quarter" idx="12"/>
          </p:nvPr>
        </p:nvSpPr>
        <p:spPr/>
        <p:txBody>
          <a:bodyPr/>
          <a:lstStyle/>
          <a:p>
            <a:fld id="{BDCDBBEF-AA6C-4BA6-85B2-A17D7F280E38}" type="slidenum">
              <a:rPr lang="en-US" smtClean="0"/>
              <a:pPr/>
              <a:t>11</a:t>
            </a:fld>
            <a:endParaRPr lang="en-US"/>
          </a:p>
        </p:txBody>
      </p:sp>
      <p:sp>
        <p:nvSpPr>
          <p:cNvPr id="2" name="TextBox 1">
            <a:extLst>
              <a:ext uri="{FF2B5EF4-FFF2-40B4-BE49-F238E27FC236}">
                <a16:creationId xmlns:a16="http://schemas.microsoft.com/office/drawing/2014/main" id="{F1683AA6-A646-5FB6-225C-BC3BFD9F0BE7}"/>
              </a:ext>
            </a:extLst>
          </p:cNvPr>
          <p:cNvSpPr txBox="1"/>
          <p:nvPr/>
        </p:nvSpPr>
        <p:spPr>
          <a:xfrm>
            <a:off x="1159006" y="642913"/>
            <a:ext cx="5821457"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Temporal Dynamics of Saccadic Amplitude</a:t>
            </a:r>
            <a:endParaRPr lang="en-IN" sz="2400" b="1" dirty="0">
              <a:latin typeface="Times New Roman" panose="02020603050405020304" pitchFamily="18" charset="0"/>
              <a:cs typeface="Times New Roman" panose="02020603050405020304" pitchFamily="18" charset="0"/>
            </a:endParaRPr>
          </a:p>
        </p:txBody>
      </p:sp>
      <p:pic>
        <p:nvPicPr>
          <p:cNvPr id="5" name="image5.png">
            <a:extLst>
              <a:ext uri="{FF2B5EF4-FFF2-40B4-BE49-F238E27FC236}">
                <a16:creationId xmlns:a16="http://schemas.microsoft.com/office/drawing/2014/main" id="{013BCC80-9746-8FD9-2364-5D868C23C04E}"/>
              </a:ext>
            </a:extLst>
          </p:cNvPr>
          <p:cNvPicPr/>
          <p:nvPr/>
        </p:nvPicPr>
        <p:blipFill>
          <a:blip r:embed="rId2"/>
          <a:srcRect/>
          <a:stretch>
            <a:fillRect/>
          </a:stretch>
        </p:blipFill>
        <p:spPr>
          <a:xfrm>
            <a:off x="1690642" y="1104578"/>
            <a:ext cx="3910058" cy="2536192"/>
          </a:xfrm>
          <a:prstGeom prst="rect">
            <a:avLst/>
          </a:prstGeom>
          <a:ln/>
        </p:spPr>
      </p:pic>
      <p:pic>
        <p:nvPicPr>
          <p:cNvPr id="7" name="image7.png">
            <a:extLst>
              <a:ext uri="{FF2B5EF4-FFF2-40B4-BE49-F238E27FC236}">
                <a16:creationId xmlns:a16="http://schemas.microsoft.com/office/drawing/2014/main" id="{5E7DE1E8-894E-E761-9894-C92E85A7345A}"/>
              </a:ext>
            </a:extLst>
          </p:cNvPr>
          <p:cNvPicPr/>
          <p:nvPr/>
        </p:nvPicPr>
        <p:blipFill>
          <a:blip r:embed="rId3"/>
          <a:srcRect/>
          <a:stretch>
            <a:fillRect/>
          </a:stretch>
        </p:blipFill>
        <p:spPr>
          <a:xfrm>
            <a:off x="2294164" y="3820158"/>
            <a:ext cx="2845027" cy="2536191"/>
          </a:xfrm>
          <a:prstGeom prst="rect">
            <a:avLst/>
          </a:prstGeom>
          <a:ln/>
        </p:spPr>
      </p:pic>
    </p:spTree>
    <p:extLst>
      <p:ext uri="{BB962C8B-B14F-4D97-AF65-F5344CB8AC3E}">
        <p14:creationId xmlns:p14="http://schemas.microsoft.com/office/powerpoint/2010/main" val="3632587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420C9A-8638-19B5-D55F-96B32C23AB73}"/>
              </a:ext>
            </a:extLst>
          </p:cNvPr>
          <p:cNvSpPr>
            <a:spLocks noGrp="1"/>
          </p:cNvSpPr>
          <p:nvPr>
            <p:ph idx="1"/>
          </p:nvPr>
        </p:nvSpPr>
        <p:spPr>
          <a:xfrm>
            <a:off x="6466114" y="1036864"/>
            <a:ext cx="4887686" cy="5140099"/>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Individuals with late-life depression showed consistently higher microsaccade rates across the entire time window, indicating reduced fixation stability and impaired moment-to-moment attentional control. Boxplots confirmed significantly higher and more variable microsaccade frequencies in the LLD group compared to controls. Unlike preserved saccade amplitude and velocity, this fine-scale oculomotor disruption highlights altered superior colliculus–related attentional regulation in late-life depression.</a:t>
            </a:r>
          </a:p>
          <a:p>
            <a:pPr algn="just"/>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8AD011E-9F37-FDFD-D6B6-0F03905B1892}"/>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8" name="TextBox 7">
            <a:extLst>
              <a:ext uri="{FF2B5EF4-FFF2-40B4-BE49-F238E27FC236}">
                <a16:creationId xmlns:a16="http://schemas.microsoft.com/office/drawing/2014/main" id="{F186F2D5-28B0-84D0-7806-F5ADCCE5157E}"/>
              </a:ext>
            </a:extLst>
          </p:cNvPr>
          <p:cNvSpPr txBox="1"/>
          <p:nvPr/>
        </p:nvSpPr>
        <p:spPr>
          <a:xfrm>
            <a:off x="770919" y="434431"/>
            <a:ext cx="6097508" cy="493212"/>
          </a:xfrm>
          <a:prstGeom prst="rect">
            <a:avLst/>
          </a:prstGeom>
          <a:noFill/>
        </p:spPr>
        <p:txBody>
          <a:bodyPr wrap="square">
            <a:spAutoFit/>
          </a:bodyPr>
          <a:lstStyle/>
          <a:p>
            <a:pPr algn="just">
              <a:lnSpc>
                <a:spcPct val="115000"/>
              </a:lnSpc>
              <a:spcAft>
                <a:spcPts val="800"/>
              </a:spcAft>
              <a:buNone/>
            </a:pPr>
            <a:r>
              <a:rPr lang="en-IN" sz="2400" b="1" dirty="0">
                <a:effectLst/>
                <a:latin typeface="Times New Roman" panose="02020603050405020304" pitchFamily="18" charset="0"/>
                <a:ea typeface="Times New Roman" panose="02020603050405020304" pitchFamily="18" charset="0"/>
                <a:cs typeface="Aptos" panose="020B0004020202020204" pitchFamily="34" charset="0"/>
              </a:rPr>
              <a:t>Temporal Dynamics of </a:t>
            </a:r>
            <a:r>
              <a:rPr lang="en-IN" sz="2400" b="1" dirty="0" err="1">
                <a:effectLst/>
                <a:latin typeface="Times New Roman" panose="02020603050405020304" pitchFamily="18" charset="0"/>
                <a:ea typeface="Times New Roman" panose="02020603050405020304" pitchFamily="18" charset="0"/>
                <a:cs typeface="Aptos" panose="020B0004020202020204" pitchFamily="34" charset="0"/>
              </a:rPr>
              <a:t>Microsaccade</a:t>
            </a:r>
            <a:r>
              <a:rPr lang="en-IN" sz="2400" b="1" dirty="0">
                <a:effectLst/>
                <a:latin typeface="Times New Roman" panose="02020603050405020304" pitchFamily="18" charset="0"/>
                <a:ea typeface="Times New Roman" panose="02020603050405020304" pitchFamily="18" charset="0"/>
                <a:cs typeface="Aptos" panose="020B0004020202020204" pitchFamily="34" charset="0"/>
              </a:rPr>
              <a:t> Rate</a:t>
            </a:r>
            <a:endParaRPr lang="en-IN" sz="2400" dirty="0">
              <a:effectLst/>
              <a:latin typeface="Aptos" panose="020B0004020202020204" pitchFamily="34" charset="0"/>
              <a:ea typeface="Aptos" panose="020B0004020202020204" pitchFamily="34" charset="0"/>
              <a:cs typeface="Aptos" panose="020B0004020202020204" pitchFamily="34" charset="0"/>
            </a:endParaRPr>
          </a:p>
        </p:txBody>
      </p:sp>
      <p:pic>
        <p:nvPicPr>
          <p:cNvPr id="9" name="image8.png">
            <a:extLst>
              <a:ext uri="{FF2B5EF4-FFF2-40B4-BE49-F238E27FC236}">
                <a16:creationId xmlns:a16="http://schemas.microsoft.com/office/drawing/2014/main" id="{3934462F-8687-6D47-A367-0AD30F518F8A}"/>
              </a:ext>
            </a:extLst>
          </p:cNvPr>
          <p:cNvPicPr/>
          <p:nvPr/>
        </p:nvPicPr>
        <p:blipFill>
          <a:blip r:embed="rId2"/>
          <a:srcRect/>
          <a:stretch>
            <a:fillRect/>
          </a:stretch>
        </p:blipFill>
        <p:spPr>
          <a:xfrm>
            <a:off x="1334255" y="1036864"/>
            <a:ext cx="4454224" cy="2742883"/>
          </a:xfrm>
          <a:prstGeom prst="rect">
            <a:avLst/>
          </a:prstGeom>
          <a:ln/>
        </p:spPr>
      </p:pic>
      <p:pic>
        <p:nvPicPr>
          <p:cNvPr id="10" name="image3.png">
            <a:extLst>
              <a:ext uri="{FF2B5EF4-FFF2-40B4-BE49-F238E27FC236}">
                <a16:creationId xmlns:a16="http://schemas.microsoft.com/office/drawing/2014/main" id="{97B160F7-D05E-8658-688A-10BC9925142E}"/>
              </a:ext>
            </a:extLst>
          </p:cNvPr>
          <p:cNvPicPr/>
          <p:nvPr/>
        </p:nvPicPr>
        <p:blipFill>
          <a:blip r:embed="rId3"/>
          <a:srcRect/>
          <a:stretch>
            <a:fillRect/>
          </a:stretch>
        </p:blipFill>
        <p:spPr>
          <a:xfrm>
            <a:off x="2090602" y="3888967"/>
            <a:ext cx="2677341" cy="2331719"/>
          </a:xfrm>
          <a:prstGeom prst="rect">
            <a:avLst/>
          </a:prstGeom>
          <a:ln/>
        </p:spPr>
      </p:pic>
    </p:spTree>
    <p:extLst>
      <p:ext uri="{BB962C8B-B14F-4D97-AF65-F5344CB8AC3E}">
        <p14:creationId xmlns:p14="http://schemas.microsoft.com/office/powerpoint/2010/main" val="2726982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9AA60F-8550-DFEA-F879-B20345ADCE1E}"/>
              </a:ext>
            </a:extLst>
          </p:cNvPr>
          <p:cNvSpPr>
            <a:spLocks noGrp="1"/>
          </p:cNvSpPr>
          <p:nvPr>
            <p:ph idx="1"/>
          </p:nvPr>
        </p:nvSpPr>
        <p:spPr>
          <a:xfrm>
            <a:off x="5332881" y="1523999"/>
            <a:ext cx="6285217" cy="4276165"/>
          </a:xfrm>
        </p:spPr>
        <p:txBody>
          <a:bodyPr>
            <a:normAutofit lnSpcReduction="10000"/>
          </a:bodyPr>
          <a:lstStyle/>
          <a:p>
            <a:pPr marL="0" indent="0" algn="just">
              <a:buNone/>
            </a:pPr>
            <a:r>
              <a:rPr lang="en-US" sz="2400" dirty="0">
                <a:latin typeface="Times New Roman" panose="02020603050405020304" pitchFamily="18" charset="0"/>
                <a:cs typeface="Times New Roman" panose="02020603050405020304" pitchFamily="18" charset="0"/>
              </a:rPr>
              <a:t>Microsaccade rate was consistently higher in individuals with late-life depression, but it did not vary with the severity of depressive symptoms, showing no linear relationship with GDS-15 scores. Healthy controls clustered at lower microsaccade frequencies, while all LLD participants showed elevated rates, indicating a categorical rather than dimensional marker. These results suggest that fixation instability and attentional dysregulation are key features of LLD, while fundamental oculomotor functions remain intact. Pupillary and microsaccade measures together provide sensitive physiological indicators of depressive status in older adults.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D958E19-7D68-7B86-1F9B-724D0D2651FE}"/>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5" name="TextBox 4">
            <a:extLst>
              <a:ext uri="{FF2B5EF4-FFF2-40B4-BE49-F238E27FC236}">
                <a16:creationId xmlns:a16="http://schemas.microsoft.com/office/drawing/2014/main" id="{CC315B7D-07D7-61F8-A664-53C7B1F63FED}"/>
              </a:ext>
            </a:extLst>
          </p:cNvPr>
          <p:cNvSpPr txBox="1"/>
          <p:nvPr/>
        </p:nvSpPr>
        <p:spPr>
          <a:xfrm>
            <a:off x="842962" y="474601"/>
            <a:ext cx="8064273" cy="493212"/>
          </a:xfrm>
          <a:prstGeom prst="rect">
            <a:avLst/>
          </a:prstGeom>
          <a:noFill/>
        </p:spPr>
        <p:txBody>
          <a:bodyPr wrap="square">
            <a:spAutoFit/>
          </a:bodyPr>
          <a:lstStyle/>
          <a:p>
            <a:pPr algn="just">
              <a:lnSpc>
                <a:spcPct val="115000"/>
              </a:lnSpc>
              <a:spcAft>
                <a:spcPts val="800"/>
              </a:spcAft>
              <a:buNone/>
            </a:pPr>
            <a:r>
              <a:rPr lang="en-IN" sz="2400" b="1" dirty="0">
                <a:effectLst/>
                <a:latin typeface="Times New Roman" panose="02020603050405020304" pitchFamily="18" charset="0"/>
                <a:ea typeface="Times New Roman" panose="02020603050405020304" pitchFamily="18" charset="0"/>
                <a:cs typeface="Aptos" panose="020B0004020202020204" pitchFamily="34" charset="0"/>
              </a:rPr>
              <a:t>Symptom-Dependent Modulation of </a:t>
            </a:r>
            <a:r>
              <a:rPr lang="en-IN" sz="2400" b="1" dirty="0" err="1">
                <a:effectLst/>
                <a:latin typeface="Times New Roman" panose="02020603050405020304" pitchFamily="18" charset="0"/>
                <a:ea typeface="Times New Roman" panose="02020603050405020304" pitchFamily="18" charset="0"/>
                <a:cs typeface="Aptos" panose="020B0004020202020204" pitchFamily="34" charset="0"/>
              </a:rPr>
              <a:t>Microsaccadic</a:t>
            </a:r>
            <a:r>
              <a:rPr lang="en-IN" sz="2400" b="1" dirty="0">
                <a:effectLst/>
                <a:latin typeface="Times New Roman" panose="02020603050405020304" pitchFamily="18" charset="0"/>
                <a:ea typeface="Times New Roman" panose="02020603050405020304" pitchFamily="18" charset="0"/>
                <a:cs typeface="Aptos" panose="020B0004020202020204" pitchFamily="34" charset="0"/>
              </a:rPr>
              <a:t> Activity</a:t>
            </a:r>
            <a:endParaRPr lang="en-IN" sz="2400" dirty="0">
              <a:effectLst/>
              <a:latin typeface="Aptos" panose="020B0004020202020204" pitchFamily="34" charset="0"/>
              <a:ea typeface="Aptos" panose="020B0004020202020204" pitchFamily="34" charset="0"/>
              <a:cs typeface="Aptos" panose="020B0004020202020204" pitchFamily="34" charset="0"/>
            </a:endParaRPr>
          </a:p>
        </p:txBody>
      </p:sp>
      <p:pic>
        <p:nvPicPr>
          <p:cNvPr id="7" name="image11.png">
            <a:extLst>
              <a:ext uri="{FF2B5EF4-FFF2-40B4-BE49-F238E27FC236}">
                <a16:creationId xmlns:a16="http://schemas.microsoft.com/office/drawing/2014/main" id="{15FDBAB2-08D4-3611-A724-45390553464C}"/>
              </a:ext>
            </a:extLst>
          </p:cNvPr>
          <p:cNvPicPr/>
          <p:nvPr/>
        </p:nvPicPr>
        <p:blipFill>
          <a:blip r:embed="rId2"/>
          <a:srcRect/>
          <a:stretch>
            <a:fillRect/>
          </a:stretch>
        </p:blipFill>
        <p:spPr>
          <a:xfrm>
            <a:off x="975223" y="2021388"/>
            <a:ext cx="4233591" cy="3139440"/>
          </a:xfrm>
          <a:prstGeom prst="rect">
            <a:avLst/>
          </a:prstGeom>
          <a:ln/>
        </p:spPr>
      </p:pic>
    </p:spTree>
    <p:extLst>
      <p:ext uri="{BB962C8B-B14F-4D97-AF65-F5344CB8AC3E}">
        <p14:creationId xmlns:p14="http://schemas.microsoft.com/office/powerpoint/2010/main" val="3962283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D71B03-4168-FA30-B460-03BE55BA1CB1}"/>
              </a:ext>
            </a:extLst>
          </p:cNvPr>
          <p:cNvSpPr>
            <a:spLocks noGrp="1"/>
          </p:cNvSpPr>
          <p:nvPr>
            <p:ph idx="1"/>
          </p:nvPr>
        </p:nvSpPr>
        <p:spPr>
          <a:xfrm>
            <a:off x="838200" y="1377388"/>
            <a:ext cx="10515600" cy="4718611"/>
          </a:xfrm>
        </p:spPr>
        <p:txBody>
          <a:bodyPr>
            <a:noAutofit/>
          </a:bodyPr>
          <a:lstStyle/>
          <a:p>
            <a:pPr algn="just"/>
            <a:r>
              <a:rPr lang="en-US" sz="3200" dirty="0">
                <a:latin typeface="Times New Roman" panose="02020603050405020304" pitchFamily="18" charset="0"/>
                <a:cs typeface="Times New Roman" panose="02020603050405020304" pitchFamily="18" charset="0"/>
              </a:rPr>
              <a:t>Behavioral Performance: Both groups showed high, equivalent accuracy and reaction times, ensuring physiological differences were not due to engagement or cognitive load.​</a:t>
            </a:r>
          </a:p>
          <a:p>
            <a:pPr algn="just"/>
            <a:r>
              <a:rPr lang="en-US" sz="3200" dirty="0">
                <a:latin typeface="Times New Roman" panose="02020603050405020304" pitchFamily="18" charset="0"/>
                <a:cs typeface="Times New Roman" panose="02020603050405020304" pitchFamily="18" charset="0"/>
              </a:rPr>
              <a:t>Pupil Responses: Healthy controls exhibited sharp bilateral pupil constriction, quick recovery, and strong parasympathetic modulation. LLD participants had reduced constriction, lower peak amplitude, and slower recovery, indicating autonomic dampening and locus coeruleus-noradrenergic dysfunction.​</a:t>
            </a:r>
          </a:p>
          <a:p>
            <a:pPr algn="just"/>
            <a:endParaRPr lang="en-IN" sz="3200" dirty="0"/>
          </a:p>
        </p:txBody>
      </p:sp>
      <p:sp>
        <p:nvSpPr>
          <p:cNvPr id="4" name="Slide Number Placeholder 3">
            <a:extLst>
              <a:ext uri="{FF2B5EF4-FFF2-40B4-BE49-F238E27FC236}">
                <a16:creationId xmlns:a16="http://schemas.microsoft.com/office/drawing/2014/main" id="{ECA7B57E-1F10-DFD3-D3C0-44C2577C7617}"/>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2884403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7C7FAE-F994-A5E9-E419-605BE9D4BEA7}"/>
              </a:ext>
            </a:extLst>
          </p:cNvPr>
          <p:cNvSpPr>
            <a:spLocks noGrp="1"/>
          </p:cNvSpPr>
          <p:nvPr>
            <p:ph idx="1"/>
          </p:nvPr>
        </p:nvSpPr>
        <p:spPr>
          <a:xfrm>
            <a:off x="838200" y="1529789"/>
            <a:ext cx="10515600" cy="4584139"/>
          </a:xfrm>
        </p:spPr>
        <p:txBody>
          <a:bodyPr>
            <a:noAutofit/>
          </a:bodyPr>
          <a:lstStyle/>
          <a:p>
            <a:pPr algn="just"/>
            <a:r>
              <a:rPr lang="en-US" sz="3200" dirty="0">
                <a:latin typeface="Times New Roman" panose="02020603050405020304" pitchFamily="18" charset="0"/>
                <a:cs typeface="Times New Roman" panose="02020603050405020304" pitchFamily="18" charset="0"/>
              </a:rPr>
              <a:t>Microsaccade Rate: LLD group showed consistently higher microsaccade frequencies throughout stimulus processing, reflecting impaired fixation stability and attentional control. Differences were stable across symptom severities, suggesting the rate as a categorical biomarker.</a:t>
            </a:r>
          </a:p>
          <a:p>
            <a:pPr algn="just"/>
            <a:r>
              <a:rPr lang="en-US" sz="3200" dirty="0">
                <a:latin typeface="Times New Roman" panose="02020603050405020304" pitchFamily="18" charset="0"/>
                <a:cs typeface="Times New Roman" panose="02020603050405020304" pitchFamily="18" charset="0"/>
              </a:rPr>
              <a:t>Saccadic Velocity and Amplitude: No significant differences between groups; neuromotor mechanisms for saccade execution remain intact in LLD, with deficits arising in fine-level oculomotor regulation rather than large-scale motor control.​</a:t>
            </a:r>
          </a:p>
          <a:p>
            <a:pPr algn="just"/>
            <a:endParaRPr lang="en-US" sz="3200" dirty="0">
              <a:latin typeface="Times New Roman" panose="02020603050405020304" pitchFamily="18" charset="0"/>
              <a:cs typeface="Times New Roman" panose="02020603050405020304" pitchFamily="18" charset="0"/>
            </a:endParaRPr>
          </a:p>
          <a:p>
            <a:pPr algn="just"/>
            <a:endParaRPr lang="en-IN" sz="3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7988C08-41C1-43CF-9C3B-BE795D349899}"/>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474933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6B62A2-0D5F-64F9-2041-1CED5E7CE83B}"/>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Summary Metrics: Distribution analyses (boxplots) confirm findings for pupil constriction (lower in LLD), saccadic kinematics (comparable), and microsaccade rate (higher in LLD, no correlation with severity).​</a:t>
            </a:r>
          </a:p>
          <a:p>
            <a:pPr algn="just"/>
            <a:r>
              <a:rPr lang="en-US" sz="3200" dirty="0">
                <a:latin typeface="Times New Roman" panose="02020603050405020304" pitchFamily="18" charset="0"/>
                <a:cs typeface="Times New Roman" panose="02020603050405020304" pitchFamily="18" charset="0"/>
              </a:rPr>
              <a:t>Implications: Simultaneous analysis reveals selective impairment in arousal-related control and fixation stability in LLD, supporting the use of eye-tracking and autonomic measures as sensitive diagnostic tools.</a:t>
            </a:r>
          </a:p>
          <a:p>
            <a:pPr algn="just"/>
            <a:endParaRPr lang="en-IN" sz="3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6E5AA50-E827-4186-B55F-83D6570D5102}"/>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3561118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The study confirms that integrated analysis of eye-tracking and autonomic signals identifies unique, objective patterns in older adults with late-life depression, distinct from healthy controls.​</a:t>
            </a:r>
          </a:p>
          <a:p>
            <a:pPr algn="just"/>
            <a:r>
              <a:rPr lang="en-US" sz="3200" dirty="0">
                <a:latin typeface="Times New Roman" panose="02020603050405020304" pitchFamily="18" charset="0"/>
                <a:cs typeface="Times New Roman" panose="02020603050405020304" pitchFamily="18" charset="0"/>
              </a:rPr>
              <a:t>Microsaccade rate and blunted pupil constriction serve as non-invasive, scalable physiological biomarkers for diagnostic and research use in geriatric mental health.</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880465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Future Scope</a:t>
            </a:r>
          </a:p>
        </p:txBody>
      </p:sp>
      <p:sp>
        <p:nvSpPr>
          <p:cNvPr id="3" name="Content Placeholder 2"/>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The research recommends enlarging and diversifying the dataset, including additional emotional stimuli and trial paradigms, and developing robust multimodal machine learning models for classification and risk stratification in depression.​</a:t>
            </a:r>
          </a:p>
          <a:p>
            <a:pPr algn="just"/>
            <a:r>
              <a:rPr lang="en-US" sz="3200" dirty="0">
                <a:latin typeface="Times New Roman" panose="02020603050405020304" pitchFamily="18" charset="0"/>
                <a:cs typeface="Times New Roman" panose="02020603050405020304" pitchFamily="18" charset="0"/>
              </a:rPr>
              <a:t>Future work will focus on mechanistic inference (sympathetic/parasympathetic decomposition), cross-site validation, and prospective studies for clinical translation and longitudinal monitoring in mental health workflows.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2286990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normAutofit/>
          </a:bodyPr>
          <a:lstStyle/>
          <a:p>
            <a:pPr algn="just"/>
            <a:r>
              <a:rPr lang="en-IN" sz="2400" dirty="0" err="1">
                <a:latin typeface="Times New Roman" panose="02020603050405020304" pitchFamily="18" charset="0"/>
                <a:cs typeface="Times New Roman" panose="02020603050405020304" pitchFamily="18" charset="0"/>
              </a:rPr>
              <a:t>Engbert</a:t>
            </a:r>
            <a:r>
              <a:rPr lang="en-IN" sz="2400" dirty="0">
                <a:latin typeface="Times New Roman" panose="02020603050405020304" pitchFamily="18" charset="0"/>
                <a:cs typeface="Times New Roman" panose="02020603050405020304" pitchFamily="18" charset="0"/>
              </a:rPr>
              <a:t>, R., &amp; Kliegl, R. </a:t>
            </a:r>
            <a:r>
              <a:rPr lang="en-IN" sz="2400" dirty="0" err="1">
                <a:latin typeface="Times New Roman" panose="02020603050405020304" pitchFamily="18" charset="0"/>
                <a:cs typeface="Times New Roman" panose="02020603050405020304" pitchFamily="18" charset="0"/>
              </a:rPr>
              <a:t>Microsaccades</a:t>
            </a:r>
            <a:r>
              <a:rPr lang="en-IN" sz="2400" dirty="0">
                <a:latin typeface="Times New Roman" panose="02020603050405020304" pitchFamily="18" charset="0"/>
                <a:cs typeface="Times New Roman" panose="02020603050405020304" pitchFamily="18" charset="0"/>
              </a:rPr>
              <a:t> uncover the orientation of covert attention. Vision Research, 43(9), 1035–1045 (2003). </a:t>
            </a:r>
          </a:p>
          <a:p>
            <a:pPr algn="just"/>
            <a:r>
              <a:rPr lang="en-IN" sz="2400" dirty="0">
                <a:latin typeface="Times New Roman" panose="02020603050405020304" pitchFamily="18" charset="0"/>
                <a:cs typeface="Times New Roman" panose="02020603050405020304" pitchFamily="18" charset="0"/>
              </a:rPr>
              <a:t>Rolfs, M. </a:t>
            </a:r>
            <a:r>
              <a:rPr lang="en-IN" sz="2400" dirty="0" err="1">
                <a:latin typeface="Times New Roman" panose="02020603050405020304" pitchFamily="18" charset="0"/>
                <a:cs typeface="Times New Roman" panose="02020603050405020304" pitchFamily="18" charset="0"/>
              </a:rPr>
              <a:t>Microsaccades</a:t>
            </a:r>
            <a:r>
              <a:rPr lang="en-IN" sz="2400" dirty="0">
                <a:latin typeface="Times New Roman" panose="02020603050405020304" pitchFamily="18" charset="0"/>
                <a:cs typeface="Times New Roman" panose="02020603050405020304" pitchFamily="18" charset="0"/>
              </a:rPr>
              <a:t>: Small saccades with big consequences. Vision Research, 49(20), 2415–2441 (2009). </a:t>
            </a:r>
          </a:p>
          <a:p>
            <a:pPr algn="just"/>
            <a:r>
              <a:rPr lang="en-IN" sz="2400" dirty="0">
                <a:latin typeface="Times New Roman" panose="02020603050405020304" pitchFamily="18" charset="0"/>
                <a:cs typeface="Times New Roman" panose="02020603050405020304" pitchFamily="18" charset="0"/>
              </a:rPr>
              <a:t>Wang, C.-A., &amp; Munoz, D. P. A circuit for pupil orienting responses: Implications for cognitive neuroscience. Trends in Neurosciences, 38(9), 556–571 (2015). </a:t>
            </a:r>
          </a:p>
          <a:p>
            <a:pPr algn="just"/>
            <a:r>
              <a:rPr lang="en-IN" sz="2400" dirty="0">
                <a:latin typeface="Times New Roman" panose="02020603050405020304" pitchFamily="18" charset="0"/>
                <a:cs typeface="Times New Roman" panose="02020603050405020304" pitchFamily="18" charset="0"/>
              </a:rPr>
              <a:t>Joshi, S., &amp; Gold, J. I. Pupil size as a window on neural substrates of cognition. Trends in Cognitive Sciences, 24(6), 466–480 (2020). </a:t>
            </a:r>
          </a:p>
          <a:p>
            <a:pPr algn="just"/>
            <a:r>
              <a:rPr lang="en-IN" sz="2400" dirty="0">
                <a:latin typeface="Times New Roman" panose="02020603050405020304" pitchFamily="18" charset="0"/>
                <a:cs typeface="Times New Roman" panose="02020603050405020304" pitchFamily="18" charset="0"/>
              </a:rPr>
              <a:t>Aston-Jones, G., &amp; Cohen, J. D. An integrative theory of locus coeruleus–norepinephrine function. Annual Review of Neuroscience, 28, 403–450 (2005).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281546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8D97E6-8DF0-46B8-3F07-471ED70D5AAB}"/>
              </a:ext>
            </a:extLst>
          </p:cNvPr>
          <p:cNvSpPr>
            <a:spLocks noGrp="1"/>
          </p:cNvSpPr>
          <p:nvPr>
            <p:ph idx="1"/>
          </p:nvPr>
        </p:nvSpPr>
        <p:spPr>
          <a:xfrm>
            <a:off x="838200" y="1165412"/>
            <a:ext cx="10515600" cy="5011551"/>
          </a:xfrm>
        </p:spPr>
        <p:txBody>
          <a:bodyPr>
            <a:normAutofit fontScale="85000" lnSpcReduction="20000"/>
          </a:bodyPr>
          <a:lstStyle/>
          <a:p>
            <a:pPr algn="just"/>
            <a:r>
              <a:rPr lang="en-IN" dirty="0">
                <a:latin typeface="Times New Roman" panose="02020603050405020304" pitchFamily="18" charset="0"/>
                <a:cs typeface="Times New Roman" panose="02020603050405020304" pitchFamily="18" charset="0"/>
              </a:rPr>
              <a:t>McGinley, M. J., David, S. V., &amp; McCormick, D. A. Cortical membrane potential signature of optimal states for sensory signal detection. Neuron, 87(1), 179–192 (2015). </a:t>
            </a:r>
          </a:p>
          <a:p>
            <a:pPr algn="just"/>
            <a:r>
              <a:rPr lang="en-IN" dirty="0">
                <a:latin typeface="Times New Roman" panose="02020603050405020304" pitchFamily="18" charset="0"/>
                <a:cs typeface="Times New Roman" panose="02020603050405020304" pitchFamily="18" charset="0"/>
              </a:rPr>
              <a:t>Bradley, M. M., Miccoli, L., </a:t>
            </a:r>
            <a:r>
              <a:rPr lang="en-IN" dirty="0" err="1">
                <a:latin typeface="Times New Roman" panose="02020603050405020304" pitchFamily="18" charset="0"/>
                <a:cs typeface="Times New Roman" panose="02020603050405020304" pitchFamily="18" charset="0"/>
              </a:rPr>
              <a:t>Escrig</a:t>
            </a:r>
            <a:r>
              <a:rPr lang="en-IN" dirty="0">
                <a:latin typeface="Times New Roman" panose="02020603050405020304" pitchFamily="18" charset="0"/>
                <a:cs typeface="Times New Roman" panose="02020603050405020304" pitchFamily="18" charset="0"/>
              </a:rPr>
              <a:t>, M. A., &amp; Lang, P. J. The pupil as a measure of emotional arousal and autonomic activation. Psychophysiology, 45(4), 602–607 (2008). </a:t>
            </a:r>
          </a:p>
          <a:p>
            <a:pPr algn="just"/>
            <a:r>
              <a:rPr lang="en-IN" dirty="0">
                <a:latin typeface="Times New Roman" panose="02020603050405020304" pitchFamily="18" charset="0"/>
                <a:cs typeface="Times New Roman" panose="02020603050405020304" pitchFamily="18" charset="0"/>
              </a:rPr>
              <a:t>Beatty, J., &amp; Lucero-Wagoner, B. The pupillary system. In Handbook of Psychophysiology (pp. 142–162). Cambridge University Press (2000). </a:t>
            </a:r>
          </a:p>
          <a:p>
            <a:pPr algn="just"/>
            <a:r>
              <a:rPr lang="en-IN" dirty="0">
                <a:latin typeface="Times New Roman" panose="02020603050405020304" pitchFamily="18" charset="0"/>
                <a:cs typeface="Times New Roman" panose="02020603050405020304" pitchFamily="18" charset="0"/>
              </a:rPr>
              <a:t>Thayer, J. F., </a:t>
            </a:r>
            <a:r>
              <a:rPr lang="en-IN" dirty="0" err="1">
                <a:latin typeface="Times New Roman" panose="02020603050405020304" pitchFamily="18" charset="0"/>
                <a:cs typeface="Times New Roman" panose="02020603050405020304" pitchFamily="18" charset="0"/>
              </a:rPr>
              <a:t>Åhs</a:t>
            </a:r>
            <a:r>
              <a:rPr lang="en-IN" dirty="0">
                <a:latin typeface="Times New Roman" panose="02020603050405020304" pitchFamily="18" charset="0"/>
                <a:cs typeface="Times New Roman" panose="02020603050405020304" pitchFamily="18" charset="0"/>
              </a:rPr>
              <a:t>, F., Fredrikson, M., Sollers, J. J., &amp; Wager, T. D. A meta-analysis of heart rate variability and neuroimaging studies: Implications for HRV as an index of top–down self-regulatory mechanisms. Neuroscience &amp; </a:t>
            </a:r>
            <a:r>
              <a:rPr lang="en-IN" dirty="0" err="1">
                <a:latin typeface="Times New Roman" panose="02020603050405020304" pitchFamily="18" charset="0"/>
                <a:cs typeface="Times New Roman" panose="02020603050405020304" pitchFamily="18" charset="0"/>
              </a:rPr>
              <a:t>Biobehavioral</a:t>
            </a:r>
            <a:r>
              <a:rPr lang="en-IN" dirty="0">
                <a:latin typeface="Times New Roman" panose="02020603050405020304" pitchFamily="18" charset="0"/>
                <a:cs typeface="Times New Roman" panose="02020603050405020304" pitchFamily="18" charset="0"/>
              </a:rPr>
              <a:t> Reviews, 36(2), 747–756 (2012). </a:t>
            </a:r>
          </a:p>
          <a:p>
            <a:pPr algn="just"/>
            <a:r>
              <a:rPr lang="en-IN" dirty="0" err="1">
                <a:latin typeface="Times New Roman" panose="02020603050405020304" pitchFamily="18" charset="0"/>
                <a:cs typeface="Times New Roman" panose="02020603050405020304" pitchFamily="18" charset="0"/>
              </a:rPr>
              <a:t>Boucsein</a:t>
            </a:r>
            <a:r>
              <a:rPr lang="en-IN" dirty="0">
                <a:latin typeface="Times New Roman" panose="02020603050405020304" pitchFamily="18" charset="0"/>
                <a:cs typeface="Times New Roman" panose="02020603050405020304" pitchFamily="18" charset="0"/>
              </a:rPr>
              <a:t>, W. Electrodermal Activity. Springer (2012). </a:t>
            </a:r>
          </a:p>
          <a:p>
            <a:pPr algn="just"/>
            <a:r>
              <a:rPr lang="en-IN" dirty="0">
                <a:latin typeface="Times New Roman" panose="02020603050405020304" pitchFamily="18" charset="0"/>
                <a:cs typeface="Times New Roman" panose="02020603050405020304" pitchFamily="18" charset="0"/>
              </a:rPr>
              <a:t>Etkin, A., Egner, T., &amp; Kalisch, R. Emotional processing in anterior cingulate and medial prefrontal cortex. Trends in Cognitive Sciences, 15(2), 85–93 (2011). </a:t>
            </a:r>
          </a:p>
        </p:txBody>
      </p:sp>
      <p:sp>
        <p:nvSpPr>
          <p:cNvPr id="4" name="Slide Number Placeholder 3">
            <a:extLst>
              <a:ext uri="{FF2B5EF4-FFF2-40B4-BE49-F238E27FC236}">
                <a16:creationId xmlns:a16="http://schemas.microsoft.com/office/drawing/2014/main" id="{EEC503BC-BE99-872B-A27F-89CDAC7A1E64}"/>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3941197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2918" y="2407630"/>
            <a:ext cx="8157881" cy="2370558"/>
          </a:xfrm>
        </p:spPr>
        <p:txBody>
          <a:bodyPr>
            <a:noAutofit/>
          </a:bodyPr>
          <a:lstStyle/>
          <a:p>
            <a:pPr algn="ctr"/>
            <a:r>
              <a:rPr lang="en-IN" sz="9600" b="1" dirty="0">
                <a:latin typeface="Times New Roman" panose="02020603050405020304" pitchFamily="18" charset="0"/>
                <a:cs typeface="Times New Roman" panose="02020603050405020304" pitchFamily="18" charset="0"/>
              </a:rPr>
              <a:t>Thank You</a:t>
            </a:r>
            <a:endParaRPr lang="en-US" sz="9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19122585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6326</TotalTime>
  <Words>1552</Words>
  <Application>Microsoft Office PowerPoint</Application>
  <PresentationFormat>Widescreen</PresentationFormat>
  <Paragraphs>98</Paragraphs>
  <Slides>21</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21</vt:i4>
      </vt:variant>
    </vt:vector>
  </HeadingPairs>
  <TitlesOfParts>
    <vt:vector size="30" baseType="lpstr">
      <vt:lpstr>Aptos</vt:lpstr>
      <vt:lpstr>Arial</vt:lpstr>
      <vt:lpstr>Calibri</vt:lpstr>
      <vt:lpstr>Calibri Light</vt:lpstr>
      <vt:lpstr>Casper</vt:lpstr>
      <vt:lpstr>Times New Roman</vt:lpstr>
      <vt:lpstr>1_Office Theme</vt:lpstr>
      <vt:lpstr>2_Office Theme</vt:lpstr>
      <vt:lpstr>Contents Slide Master</vt:lpstr>
      <vt:lpstr>PowerPoint Presentation</vt:lpstr>
      <vt:lpstr>Outline</vt:lpstr>
      <vt:lpstr>Introduction to Project</vt:lpstr>
      <vt:lpstr>PowerPoint Presentation</vt:lpstr>
      <vt:lpstr>Problem Formulation</vt:lpstr>
      <vt:lpstr>Objectives</vt:lpstr>
      <vt:lpstr>Methodology </vt:lpstr>
      <vt:lpstr>PowerPoint Presentation</vt:lpstr>
      <vt:lpstr>Results and Outputs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Scope</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ARSHDEEP YADAV</cp:lastModifiedBy>
  <cp:revision>497</cp:revision>
  <dcterms:created xsi:type="dcterms:W3CDTF">2019-01-09T10:33:58Z</dcterms:created>
  <dcterms:modified xsi:type="dcterms:W3CDTF">2025-11-18T05:07:20Z</dcterms:modified>
</cp:coreProperties>
</file>